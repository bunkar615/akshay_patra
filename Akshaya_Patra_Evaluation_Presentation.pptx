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Evaluation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Multi-Stage Framework for Recognizing the Best Employee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4114800" cy="0"/>
          </a:xfrm>
          <a:prstGeom prst="line">
            <a:avLst/>
          </a:prstGeom>
          <a:noFill/>
          <a:ln w="19050">
            <a:solidFill>
              <a:srgbClr val="E872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Akshaya Patra Foundation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Branch Managers, Cluster Managers &amp; Committee Members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of the evaluation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97280"/>
            <a:ext cx="39319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 Framework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50876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1.  Evaluation Process Overview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2.  Branch Types: BIG vs SMALL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3.  Stage 1 — Self-Assessment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4.  Stage 2 — Evaluator Assessment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5.  Stage 3 — Cluster Manager Evaluation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6.  Stage 4 — HR Evaluation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7.  Stage 5 — Committee &amp; Final Winners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97280"/>
            <a:ext cx="3931920" cy="34747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Supporting Topics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50876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8.   Question Framework &amp; Categories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9.   Weighted Scoring &amp; Formulas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10. Quarter Creation &amp; Management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11. Blue-Collar vs White-Collar Tracks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12. Roles &amp; Responsibilities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</a:rPr>
              <a:t>13. Scoring Model Justification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5-Stage Evaluation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progressive, multi-evaluator framework ensuring fairness and objectivity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1417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234440"/>
            <a:ext cx="1417320" cy="41148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34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16916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A7"/>
                </a:solidFill>
              </a:rPr>
              <a:t>Self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65A7"/>
                </a:solidFill>
              </a:rPr>
              <a:t>Assessment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Employee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00784" y="2240280"/>
            <a:ext cx="237744" cy="0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92224" y="2103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93392" y="1234440"/>
            <a:ext cx="1417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2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1234440"/>
            <a:ext cx="1417320" cy="411480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234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93392" y="16916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21C"/>
                </a:solidFill>
              </a:rPr>
              <a:t>Evaluator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721C"/>
                </a:solidFill>
              </a:rPr>
              <a:t>Assessment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93392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BM / HOD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65576" y="2240280"/>
            <a:ext cx="237744" cy="0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7016" y="2103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58184" y="1234440"/>
            <a:ext cx="1417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58184" y="1234440"/>
            <a:ext cx="141732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58184" y="1234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58184" y="16916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4A"/>
                </a:solidFill>
              </a:rPr>
              <a:t>Cluster Mgr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7A4A"/>
                </a:solidFill>
              </a:rPr>
              <a:t>Review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58184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Cluster Mgr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30368" y="2240280"/>
            <a:ext cx="237744" cy="0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2103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22976" y="1234440"/>
            <a:ext cx="1417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22976" y="1234440"/>
            <a:ext cx="1417320" cy="4114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22976" y="1234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22976" y="16916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HR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22976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HR Dept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95160" y="2240280"/>
            <a:ext cx="237744" cy="0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2103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87768" y="1234440"/>
            <a:ext cx="1417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86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87768" y="1234440"/>
            <a:ext cx="1417320" cy="41148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87768" y="1234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87768" y="16916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60A"/>
                </a:solidFill>
              </a:rPr>
              <a:t>Committee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860A"/>
                </a:solidFill>
              </a:rPr>
              <a:t>Decision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87768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Committee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solidFill>
            <a:srgbClr val="FFF3E0"/>
          </a:solidFill>
          <a:ln w="9525">
            <a:solidFill>
              <a:srgbClr val="E872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3A6B"/>
                </a:solidFill>
              </a:rPr>
              <a:t>Each stage progressively narrows candidates — only the most consistently high-performing employees reach the final stage.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 Types, Two Evaluation Paths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structure adapts to branch size and complexity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Blue-Collar Evaluator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 (Head of Department)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White-Collar Evaluator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Manager (all staff)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BC Advance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Blue-Collar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(All staff)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WC Advance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 White-Collar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(unified track)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 Advance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WC: Top 2 / BC: Top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(All staff)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4 Advance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WC: Top 1 / BC: Top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 (All staff)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Winners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WC + 3 BC = 4 Winners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2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Winners (no collar split)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 Required?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434840"/>
            <a:ext cx="8503920" cy="365760"/>
          </a:xfrm>
          <a:prstGeom prst="rect">
            <a:avLst/>
          </a:prstGeom>
          <a:solidFill>
            <a:srgbClr val="FFF3E0"/>
          </a:solidFill>
          <a:ln w="9525">
            <a:solidFill>
              <a:srgbClr val="E872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434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3A6B"/>
                </a:solidFill>
              </a:rPr>
              <a:t>Key Principle: BIG branches maintain separate WC/BC tracks. SMALL branches follow a single unified track managed by the Branch Manager.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Self-Assessment by Employees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eligible employee evaluates their own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</a:rPr>
              <a:t>Each employee receives a personalized, randomized set of 10–25 questions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</a:rPr>
              <a:t>Questions drawn from 7 performance categories (Attendance, Discipline, Productivity, Teamwork, Initiative, Communication, Integrity)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</a:rPr>
              <a:t>Questions available in both English and Hindi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</a:rPr>
              <a:t>Answers rated on a –2 to +2 scale (Strongly Negative to Strongly Positive)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</a:rPr>
              <a:t>System auto-calculates a Normalized Score (0–100)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</a:rPr>
              <a:t>TOP 50% of employees by score are shortlisted for Stage 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1078992"/>
            <a:ext cx="301752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1078992"/>
            <a:ext cx="3017520" cy="347472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078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Answer Scale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44752"/>
          <a:ext cx="3017520" cy="18288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Strongly 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/ 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5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Strongly 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3520440"/>
            <a:ext cx="84124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520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96E"/>
                </a:solidFill>
              </a:rPr>
              <a:t>Formula: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Normalized Score = (Raw Score ÷ Max Possible) × 100   |   Max Possible = No. of Questions × 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4160520"/>
            <a:ext cx="8412480" cy="384048"/>
          </a:xfrm>
          <a:prstGeom prst="rect">
            <a:avLst/>
          </a:prstGeom>
          <a:solidFill>
            <a:srgbClr val="FFF3E0"/>
          </a:solidFill>
          <a:ln w="9525">
            <a:solidFill>
              <a:srgbClr val="E872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160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3A6B"/>
                </a:solidFill>
              </a:rPr>
              <a:t>Stage 1 Output: Top 50% of all employees advance to Stage 2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Evaluator Assessment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shortlisted employees are independently evaluated by a senior evaluator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393192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15568"/>
            <a:ext cx="393192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BIG BRANCH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White-Collar → Evaluated by Branch Manager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Blue-Collar → Evaluated by HOD (Head of Dept)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Each evaluator answers up to 15 questions per employee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Top 3 White-Collar advance to Stage 3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Top 10 Blue-Collar advance to Stage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115568"/>
            <a:ext cx="393192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72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115568"/>
            <a:ext cx="3931920" cy="384048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SMALL BRANCH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All employees evaluated by Branch Manager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No HOD role exists in SMALL branches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Same 15-question evaluation format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Top 10 employees advance (no collar split)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8503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96E"/>
                </a:solidFill>
              </a:rPr>
              <a:t>Stage 2 Score =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(Self Score × 60%) + (Evaluator Score × 40%)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solidFill>
            <a:srgbClr val="FFF3E0"/>
          </a:solidFill>
          <a:ln w="9525">
            <a:solidFill>
              <a:srgbClr val="E872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708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3A6B"/>
                </a:solidFill>
              </a:rPr>
              <a:t>The evaluator's independent assessment acts as a check on self-reported scores, ensuring objectivity.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Cluster Manager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regional-level review adds a third layer of objectivity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347472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1430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Stage 2 shortlisted employees are presented to the Cluster Manager (CM)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64792"/>
            <a:ext cx="347472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17647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CM conducts an independent evaluation using a dedicated set of 10 questions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86584"/>
            <a:ext cx="347472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38658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CM evaluates employees across all assigned branches — no prior bias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39319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17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BIG BRANCH — Stage 3 Advances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64992"/>
            <a:ext cx="3931920" cy="5486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649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Top 2 White-Collar  +  Top 5 Blue-Collar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017520"/>
            <a:ext cx="3931920" cy="34747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17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SMALL BRANCH — Stage 3 Advances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364992"/>
            <a:ext cx="3931920" cy="548640"/>
          </a:xfrm>
          <a:prstGeom prst="rect">
            <a:avLst/>
          </a:prstGeom>
          <a:solidFill>
            <a:srgbClr val="FFF3E0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649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21C"/>
                </a:solidFill>
              </a:rPr>
              <a:t>Top 5 (Unified — no collar split)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96E"/>
                </a:solidFill>
              </a:rPr>
              <a:t>Stage 3 Score =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(Self × 40%) + (Evaluator × 30%) + (CM × 30%)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HR Evaluation (Attendance &amp; Punctuality)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data-driven HR metrics complete the scoring picture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What HR Evaluates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HR does NOT use a questionnaire format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HR records Attendance % and Punctuality % for each employee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Supporting PDFs uploaded as evidence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System converts percentages to Band Marks (0–10 per metric)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Total HR Score = Attendance Marks + Punctuality Marks (max 20)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078992"/>
            <a:ext cx="374904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Attendance / Punctuality Band Marks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26464"/>
          <a:ext cx="3749040" cy="269748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</a:tblGrid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Awarded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– 89%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– 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– 69%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– 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– 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– 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45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20040" y="4224528"/>
            <a:ext cx="443484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2245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HR Score = Attend. Marks + Punctuality Marks ÷ 20 × 100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4224528"/>
            <a:ext cx="3931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 = Self×30% + Eval×25% + CM×25% + HR×20%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Committee Review &amp; Winner Declaration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Committee reviews final scores and officially declares the Best Employee(s)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4114800" cy="34747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the Committee Reviews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</a:rPr>
              <a:t>All Stage 4 finalists with complete score breakdowns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</a:rPr>
              <a:t>Scores visible by stage: Self / BM or HOD / CM / HR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</a:rPr>
              <a:t>Both branch types (BIG and SMALL) handled separately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</a:rPr>
              <a:t>Weighted final score calculated transparently for each finalist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Winner Declaration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444752"/>
          <a:ext cx="4114800" cy="128016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Winners Declared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Best Employee (WC) + 3 Best Employees (BC) = 4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Best Employees (no collar distinction)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709160" y="2834640"/>
            <a:ext cx="4114800" cy="1143000"/>
          </a:xfrm>
          <a:prstGeom prst="rect">
            <a:avLst/>
          </a:prstGeom>
          <a:solidFill>
            <a:srgbClr val="FFF3E0"/>
          </a:solidFill>
          <a:ln w="9525">
            <a:solidFill>
              <a:srgbClr val="E872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8529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Tiebreaker Rules (equal Final Score):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1st → Cluster Manager Score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2nd → Evaluator (BM/HOD) Score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3rd → Self-Assessment Score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4206240"/>
            <a:ext cx="850392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2062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The Committee's role is oversight and declaration — evaluation is complete by Stage 4. This ensures the process remains objective and data-driven.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Framework — 7 Performance Categories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carefully structured across seven dimensions of workplace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25603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15568"/>
            <a:ext cx="164592" cy="73152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A7"/>
                </a:solidFill>
              </a:rPr>
              <a:t>ATTENDANCE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463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Regular presence &amp; punctuality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115568"/>
            <a:ext cx="25603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1115568"/>
            <a:ext cx="164592" cy="7315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DISCIPLINE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463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Adherence to rules &amp; conduct standards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1115568"/>
            <a:ext cx="25603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97880" y="1115568"/>
            <a:ext cx="164592" cy="7315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</a:rPr>
              <a:t>PRODUCTIVITY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463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Work output, quality, and efficiency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029968"/>
            <a:ext cx="25603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86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029968"/>
            <a:ext cx="164592" cy="73152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075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60A"/>
                </a:solidFill>
              </a:rPr>
              <a:t>TEAMWORK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Collaboration and team contribution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2029968"/>
            <a:ext cx="25603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2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2029968"/>
            <a:ext cx="164592" cy="731520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075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21C"/>
                </a:solidFill>
              </a:rPr>
              <a:t>INITIATIVE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Proactivity &amp; self-motivation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5603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B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97880" y="2029968"/>
            <a:ext cx="164592" cy="73152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075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6B"/>
                </a:solidFill>
              </a:rPr>
              <a:t>COMMUNICATION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Clarity, effectiveness &amp; professionalism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2944368"/>
            <a:ext cx="25603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944368"/>
            <a:ext cx="164592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INTEGRITY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3291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Honesty, ethics &amp; organizational values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005072"/>
            <a:ext cx="27432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005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English &amp; Hindi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accessibility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4005072"/>
            <a:ext cx="27432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4005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Min. 2 questions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 category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80760" y="4005072"/>
            <a:ext cx="27432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4005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Randomized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employee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Model — Building the Final Score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cumulative, transparent system where every stage contributes to the final result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Stage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63040" y="1143000"/>
            <a:ext cx="5486400" cy="365760"/>
          </a:xfrm>
          <a:prstGeom prst="rect">
            <a:avLst/>
          </a:prstGeom>
          <a:solidFill>
            <a:srgbClr val="1565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Self 100%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18562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Stage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1856232"/>
            <a:ext cx="3291840" cy="365760"/>
          </a:xfrm>
          <a:prstGeom prst="rect">
            <a:avLst/>
          </a:prstGeom>
          <a:solidFill>
            <a:srgbClr val="1565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1856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Self 60%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856232"/>
            <a:ext cx="2194560" cy="365760"/>
          </a:xfrm>
          <a:prstGeom prst="rect">
            <a:avLst/>
          </a:prstGeom>
          <a:solidFill>
            <a:srgbClr val="E8721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856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 40%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5694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Stage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63040" y="2569464"/>
            <a:ext cx="2194560" cy="365760"/>
          </a:xfrm>
          <a:prstGeom prst="rect">
            <a:avLst/>
          </a:prstGeom>
          <a:solidFill>
            <a:srgbClr val="1565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2569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Self 40%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2569464"/>
            <a:ext cx="1645920" cy="365760"/>
          </a:xfrm>
          <a:prstGeom prst="rect">
            <a:avLst/>
          </a:prstGeom>
          <a:solidFill>
            <a:srgbClr val="E8721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2569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 30%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0" y="2569464"/>
            <a:ext cx="1645920" cy="365760"/>
          </a:xfrm>
          <a:prstGeom prst="rect">
            <a:avLst/>
          </a:prstGeom>
          <a:solidFill>
            <a:srgbClr val="1A7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569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CM 30%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2826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Final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3282696"/>
            <a:ext cx="1645920" cy="365760"/>
          </a:xfrm>
          <a:prstGeom prst="rect">
            <a:avLst/>
          </a:prstGeom>
          <a:solidFill>
            <a:srgbClr val="1565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282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Self 30%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3282696"/>
            <a:ext cx="1371600" cy="365760"/>
          </a:xfrm>
          <a:prstGeom prst="rect">
            <a:avLst/>
          </a:prstGeom>
          <a:solidFill>
            <a:srgbClr val="E8721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2826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 25%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3282696"/>
            <a:ext cx="1371600" cy="365760"/>
          </a:xfrm>
          <a:prstGeom prst="rect">
            <a:avLst/>
          </a:prstGeom>
          <a:solidFill>
            <a:srgbClr val="1A7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2826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CM 25%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3282696"/>
            <a:ext cx="1097280" cy="365760"/>
          </a:xfrm>
          <a:prstGeom prst="rect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32826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HR 20%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463040" y="3758184"/>
            <a:ext cx="182880" cy="18288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00784" y="37581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Self-Assessment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3758184"/>
            <a:ext cx="182880" cy="182880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9584" y="37581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Evaluator (BM/HOD)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20640" y="3758184"/>
            <a:ext cx="182880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58384" y="37581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Cluster Manager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49440" y="3758184"/>
            <a:ext cx="182880" cy="1828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7184" y="37581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HR Evaluation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014216"/>
            <a:ext cx="8503920" cy="7315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1422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Normalization: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Score = (Raw Score ÷ Max Possible) × 100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" y="44897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Stage 2: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(Self × 0.60) + (Evaluator × 0.40)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41422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Stage 3: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(Self × 0.40) + (Evaluator × 0.30) + (CM × 0.30)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0" y="44897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Final Score: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(Self × 0.30) + (Evaluator × 0.25) + (CM × 0.25) + (HR × 0.20)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Management — Evaluation Cycle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evaluation cycle runs within a defined Quarter, created and managed by the Admin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4023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Quarter Setup Fields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Quarter Name (e.g., Q1-2025) — must be unique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Start Date &amp; End Date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Self-Assessment questions: 10–25 per employee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BM / HOD evaluator questions: up to 25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CM evaluator questions: up to 25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</a:rPr>
              <a:t>Question Selection Mode: AUTO or MANUAL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4023360" cy="34747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 Selection Modes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481328"/>
            <a:ext cx="4023360" cy="256032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81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 MODE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773936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</a:rPr>
              <a:t>System picks category-balanced questions automatically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</a:rPr>
              <a:t>Minimum 2 questions from each of 7 categories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</a:rPr>
              <a:t>Remaining slots filled randomly (Fisher-Yates shuffle)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402336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743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MANUAL MODE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0358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</a:rPr>
              <a:t>Admin hand-picks specific questions for inclusion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</a:rPr>
              <a:t>Useful for targeted or thematic evaluations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767328"/>
            <a:ext cx="850392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67328"/>
            <a:ext cx="1700784" cy="25603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673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Quarter Created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20824" y="3767328"/>
            <a:ext cx="1700784" cy="256032"/>
          </a:xfrm>
          <a:prstGeom prst="rect">
            <a:avLst/>
          </a:prstGeom>
          <a:solidFill>
            <a:srgbClr val="1565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20824" y="37673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Quarter ACTIVE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21608" y="3767328"/>
            <a:ext cx="1700784" cy="25603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37673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 Phases 1–4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22392" y="3767328"/>
            <a:ext cx="1700784" cy="256032"/>
          </a:xfrm>
          <a:prstGeom prst="rect">
            <a:avLst/>
          </a:prstGeom>
          <a:solidFill>
            <a:srgbClr val="1565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2392" y="37673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Quarter CLOSED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23176" y="3767328"/>
            <a:ext cx="1700784" cy="25603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23176" y="37673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Results Published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114800"/>
            <a:ext cx="8503920" cy="347472"/>
          </a:xfrm>
          <a:prstGeom prst="rect">
            <a:avLst/>
          </a:prstGeom>
          <a:solidFill>
            <a:srgbClr val="FFF3E0"/>
          </a:solidFill>
          <a:ln w="9525">
            <a:solidFill>
              <a:srgbClr val="E872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148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3A6B"/>
                </a:solidFill>
              </a:rPr>
              <a:t>Only ONE quarter can be active at a time. The system prevents duplicate active quarters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Blue-Collar vs White-Collar — Separate Evaluation Tracks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BIG branches, the system runs two parallel, independent evaluation pipelines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41148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WHITE-COLLAR TRACK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72768"/>
            <a:ext cx="4114800" cy="402336"/>
          </a:xfrm>
          <a:prstGeom prst="rect">
            <a:avLst/>
          </a:prstGeom>
          <a:solidFill>
            <a:srgbClr val="EEF2F8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727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Stage 1: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All WC Employees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67712" y="1975104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6B"/>
                </a:solidFill>
              </a:rPr>
              <a:t>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084832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848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Stage 2: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Evaluated by Branch Manager → Top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67712" y="248716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6B"/>
                </a:solidFill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596896"/>
            <a:ext cx="4114800" cy="402336"/>
          </a:xfrm>
          <a:prstGeom prst="rect">
            <a:avLst/>
          </a:prstGeom>
          <a:solidFill>
            <a:srgbClr val="EEF2F8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968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Stage 3: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Evaluated by Cluster Manager → Top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67712" y="2999232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6B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089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Stage 4: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HR Evaluation → Top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657600"/>
            <a:ext cx="411480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57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1 Best WC Employee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097280"/>
            <a:ext cx="4114800" cy="365760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BLUE-COLLAR TRACK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1572768"/>
            <a:ext cx="4114800" cy="402336"/>
          </a:xfrm>
          <a:prstGeom prst="rect">
            <a:avLst/>
          </a:prstGeom>
          <a:solidFill>
            <a:srgbClr val="EEF2F8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5727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21C"/>
                </a:solidFill>
              </a:rPr>
              <a:t>Stage 1: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All BC Employees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56832" y="1975104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721C"/>
                </a:solidFill>
              </a:rPr>
              <a:t>▼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084832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0848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21C"/>
                </a:solidFill>
              </a:rPr>
              <a:t>Stage 2: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Evaluated by HOD → Top 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248716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721C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2596896"/>
            <a:ext cx="4114800" cy="402336"/>
          </a:xfrm>
          <a:prstGeom prst="rect">
            <a:avLst/>
          </a:prstGeom>
          <a:solidFill>
            <a:srgbClr val="EEF2F8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5968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21C"/>
                </a:solidFill>
              </a:rPr>
              <a:t>Stage 3: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Evaluated by Cluster Manager → Top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56832" y="2999232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721C"/>
                </a:solidFill>
              </a:rPr>
              <a:t>▼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3108960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1089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21C"/>
                </a:solidFill>
              </a:rPr>
              <a:t>Stage 4: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HR Evaluation → Top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657600"/>
            <a:ext cx="4114800" cy="411480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657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3 Best BC Employees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4187952"/>
            <a:ext cx="8503920" cy="384048"/>
          </a:xfrm>
          <a:prstGeom prst="rect">
            <a:avLst/>
          </a:prstGeom>
          <a:solidFill>
            <a:srgbClr val="FFF3E0"/>
          </a:solidFill>
          <a:ln w="9525">
            <a:solidFill>
              <a:srgbClr val="E872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879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3A6B"/>
                </a:solidFill>
              </a:rPr>
              <a:t>Total per BIG Branch: 4 Winners (1 WC + 3 BC)  |  Blue-collar employees are recognized on their own merits — never competing with white-collar staff.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Responsibilities in the Evaluation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distinct roles work together across the five evaluation stages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78992"/>
          <a:ext cx="8595360" cy="352044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4114800"/>
                <a:gridCol w="2011680"/>
              </a:tblGrid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Pre-Quarter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quarters, manages questions, employee records &amp; branch setup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Branches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Submits self-assessment answers to personalized question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profile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Stage 1 shortlisted employees (WC for BIG; all staff for SMALL)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 (Head of Dept)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Blue-Collar Stage 1 shortlist — BIG branches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Branch / Dept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evaluation of Stage 2 shortlisted employees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Branches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Department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attendance &amp; punctuality data with supporting PDF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Branches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final scores and officially declares Best Employee winners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Branches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4663440"/>
            <a:ext cx="8595360" cy="45720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Each role has strictly scoped access — evaluators can only see employees in their assigned branch(es), maintaining confidentiality and integrity.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Evaluation Model?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B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fair, transparent, and multi-dimensional framework for recognizing exceptional employees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E872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114800" cy="1280160"/>
          </a:xfrm>
          <a:prstGeom prst="rect">
            <a:avLst/>
          </a:prstGeom>
          <a:solidFill>
            <a:srgbClr val="1E2E50"/>
          </a:solidFill>
          <a:ln w="19050">
            <a:solidFill>
              <a:srgbClr val="1565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0" cy="32004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OBJECTIVITY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444752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No single evaluator decides the winner. Four independent evaluators at different organizational levels contribute to the final score, minimizing personal bias.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280160"/>
          </a:xfrm>
          <a:prstGeom prst="rect">
            <a:avLst/>
          </a:prstGeom>
          <a:solidFill>
            <a:srgbClr val="1E2E50"/>
          </a:solidFill>
          <a:ln w="19050">
            <a:solidFill>
              <a:srgbClr val="E872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PROGRESSIVE FILTERING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444752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Employees advance stage by stage. Only consistently strong performers reach the final. One lucky score in one stage cannot guarantee a win.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4114800" cy="1280160"/>
          </a:xfrm>
          <a:prstGeom prst="rect">
            <a:avLst/>
          </a:prstGeom>
          <a:solidFill>
            <a:srgbClr val="1E2E50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14600"/>
            <a:ext cx="4114800" cy="320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MULTI-DIMENSIONAL ASSESSMENT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2862072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7 performance categories + attendance + punctuality. Both soft skills (self-evaluation) and objective HR data are included in the final score.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514600"/>
            <a:ext cx="4114800" cy="1280160"/>
          </a:xfrm>
          <a:prstGeom prst="rect">
            <a:avLst/>
          </a:prstGeom>
          <a:solidFill>
            <a:srgbClr val="1E2E50"/>
          </a:solidFill>
          <a:ln w="19050">
            <a:solidFill>
              <a:srgbClr val="C886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514600"/>
            <a:ext cx="4114800" cy="32004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EQUITY &amp; ACCESSIBILITY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2862072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Blue-collar and white-collar employees compete on separate tracks in BIG branches. Questions in Hindi and English ensure language is never a barrier.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041648"/>
            <a:ext cx="8503920" cy="475488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4164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Score = 30% Self-Honesty + 25% Manager Assessment + 25% Cluster Oversight + 20% Attendance &amp; Punctuality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BCDE"/>
                </a:solidFill>
              </a:rPr>
              <a:t>We invite Branch Managers, Cluster Managers &amp; Committee Members to review, validate, and approve this evaluation framework.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721C"/>
          </a:solidFill>
          <a:ln w="12700">
            <a:solidFill>
              <a:srgbClr val="E872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Akshaya Patra Foundation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Akshaya Patra Employee Evaluation System</dc:title>
  <dc:subject>PptxGenJS Presentation</dc:subject>
  <dc:creator>PptxGenJS</dc:creator>
  <cp:lastModifiedBy>PptxGenJS</cp:lastModifiedBy>
  <cp:revision>1</cp:revision>
  <dcterms:created xsi:type="dcterms:W3CDTF">2026-06-08T11:23:12Z</dcterms:created>
  <dcterms:modified xsi:type="dcterms:W3CDTF">2026-06-08T11:23:12Z</dcterms:modified>
</cp:coreProperties>
</file>